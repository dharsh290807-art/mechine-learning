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1143000"/>
            <a:ext cx="146304" cy="146304"/>
          </a:xfrm>
          <a:prstGeom prst="ellipse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1691640"/>
            <a:ext cx="146304" cy="146304"/>
          </a:xfrm>
          <a:prstGeom prst="ellipse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097280"/>
            <a:ext cx="146304" cy="146304"/>
          </a:xfrm>
          <a:prstGeom prst="ellipse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61120" y="2743200"/>
            <a:ext cx="146304" cy="146304"/>
          </a:xfrm>
          <a:prstGeom prst="ellipse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0" y="3200400"/>
            <a:ext cx="146304" cy="146304"/>
          </a:xfrm>
          <a:prstGeom prst="ellipse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55680" y="2468880"/>
            <a:ext cx="146304" cy="146304"/>
          </a:xfrm>
          <a:prstGeom prst="ellipse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4572000"/>
            <a:ext cx="146304" cy="146304"/>
          </a:xfrm>
          <a:prstGeom prst="ellipse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0" y="4846320"/>
            <a:ext cx="146304" cy="146304"/>
          </a:xfrm>
          <a:prstGeom prst="ellipse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8650224" y="1289304"/>
            <a:ext cx="1188720" cy="548639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38944" y="1243584"/>
            <a:ext cx="1097280" cy="594359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50224" y="1289304"/>
            <a:ext cx="457200" cy="160020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07424" y="2889504"/>
            <a:ext cx="1280160" cy="45720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387584" y="2615184"/>
            <a:ext cx="914400" cy="73152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07424" y="2889504"/>
            <a:ext cx="365760" cy="182880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73184" y="4718304"/>
            <a:ext cx="1371600" cy="27432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87584" y="3346704"/>
            <a:ext cx="457200" cy="164592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36224" y="1243584"/>
            <a:ext cx="365760" cy="1371600"/>
          </a:xfrm>
          <a:prstGeom prst="line">
            <a:avLst/>
          </a:prstGeom>
          <a:ln w="20320">
            <a:solidFill>
              <a:srgbClr val="152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658368"/>
            <a:ext cx="1508760" cy="347472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713232"/>
            <a:ext cx="1280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1">
                <a:solidFill>
                  <a:srgbClr val="32DAE7"/>
                </a:solidFill>
                <a:latin typeface="Aptos"/>
              </a:rPr>
              <a:t>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417320"/>
            <a:ext cx="7498079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3900" b="1">
                <a:solidFill>
                  <a:srgbClr val="F0F7FC"/>
                </a:solidFill>
                <a:latin typeface="Aptos"/>
              </a:rPr>
              <a:t>SENTINELFLOW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359152"/>
            <a:ext cx="71323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200" b="0">
                <a:solidFill>
                  <a:srgbClr val="A9BECF"/>
                </a:solidFill>
                <a:latin typeface="Aptos"/>
              </a:rPr>
              <a:t>DDoS Attack Detection Using
LSTM &amp; Autoencoder-Based Anomaly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794760"/>
            <a:ext cx="6126480" cy="36576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096512"/>
            <a:ext cx="6309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36592"/>
            <a:ext cx="63093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Presented by: V. Rohith — 2520090029
B. Dharshan — 2520090088
Guide: [Supervisor name]  •  [Department / College]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61888"/>
            <a:ext cx="6217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>
                <a:solidFill>
                  <a:srgbClr val="A9BECF"/>
                </a:solidFill>
                <a:latin typeface="Aptos"/>
              </a:rPr>
              <a:t>Academic year: [20XX–20XX]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98932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>
                <a:solidFill>
                  <a:srgbClr val="32DAE7"/>
                </a:solidFill>
                <a:latin typeface="Aptos"/>
              </a:rPr>
              <a:t>CICDDoS2019 • 68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Project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A machine-learning workflow for flow-level DDoS screening and anomaly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150876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22402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22402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F0F7FC"/>
                </a:solidFill>
                <a:latin typeface="Aptos"/>
              </a:rPr>
              <a:t>CSV of network-flow records
68 trained numeric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4592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45920"/>
            <a:ext cx="64008" cy="150876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810512"/>
            <a:ext cx="22402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258568"/>
            <a:ext cx="22402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F0F7FC"/>
                </a:solidFill>
                <a:latin typeface="Aptos"/>
              </a:rPr>
              <a:t>Column validation, numeric cleanup,
missing-value handling,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606040" cy="15087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64008" cy="150876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1810512"/>
            <a:ext cx="22402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58568"/>
            <a:ext cx="22402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F0F7FC"/>
                </a:solidFill>
                <a:latin typeface="Aptos"/>
              </a:rPr>
              <a:t>Logistic Regression • LSTM
Autoencoder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514600" cy="15087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64008" cy="150876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08008" y="1810512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B454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258568"/>
            <a:ext cx="2148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F0F7FC"/>
                </a:solidFill>
                <a:latin typeface="Aptos"/>
              </a:rPr>
              <a:t>Predictions, risk indicators,
summary and result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94760"/>
            <a:ext cx="105156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32DAE7"/>
                </a:solidFill>
                <a:latin typeface="Aptos"/>
              </a:rPr>
              <a:t>Design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0">
                <a:solidFill>
                  <a:srgbClr val="F0F7FC"/>
                </a:solidFill>
                <a:latin typeface="Aptos"/>
              </a:rPr>
              <a:t>Use complementary model perspectives: supervised flow classification, sequence-based classification, and reconstruction-error anomaly detection. The models are reported separately so their outputs can be interpreted rather than hidden inside one score.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Scope: a project prototype for offline CSV analysis—not a replacement for production network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Why DDoS detection matters for network 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338328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THE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06324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0">
                <a:solidFill>
                  <a:srgbClr val="F0F7FC"/>
                </a:solidFill>
                <a:latin typeface="Aptos"/>
              </a:rPr>
              <a:t>Distributed Denial-of-Service attacks flood a target with traffic or requests, consuming bandwidth, connection capacity, or application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64008" cy="338328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306324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0">
                <a:solidFill>
                  <a:srgbClr val="F0F7FC"/>
                </a:solidFill>
                <a:latin typeface="Aptos"/>
              </a:rPr>
              <a:t>Traffic can be high-volume, fast-changing, and mixed with legitimate activity. Static rules may miss unfamiliar patterns or generate noisy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64008" cy="338328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THE PROJECT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12848"/>
            <a:ext cx="306324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0">
                <a:solidFill>
                  <a:srgbClr val="F0F7FC"/>
                </a:solidFill>
                <a:latin typeface="Aptos"/>
              </a:rPr>
              <a:t>Analyze structured flow features with multiple ML approaches and expose the results through a CSV-upload web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789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0F7FC"/>
                </a:solidFill>
                <a:latin typeface="Aptos"/>
              </a:rPr>
              <a:t>Key goal: turn raw flow records into understandable detection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The project addresses the gap between raw flow data and actionable screening.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675120" cy="4206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Large CSVs contain many numerical traffic descriptors that are difficult to review manually.</a:t>
            </a:r>
          </a:p>
          <a:p>
            <a:pPr>
              <a:spcAft>
                <a:spcPts val="8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A single decision method may not capture both known attack patterns and unusual behavior.</a:t>
            </a:r>
          </a:p>
          <a:p>
            <a:pPr>
              <a:spcAft>
                <a:spcPts val="8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Sequence context can matter when related flows occur over time.</a:t>
            </a:r>
          </a:p>
          <a:p>
            <a:pPr>
              <a:spcAft>
                <a:spcPts val="8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Model outputs need to be accessible through a clear, repeatable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64592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09560" y="1645920"/>
            <a:ext cx="64008" cy="324612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B454"/>
                </a:solidFill>
                <a:latin typeface="Aptos"/>
              </a:rPr>
              <a:t>WHO BENEFITS?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2258568"/>
            <a:ext cx="3063240" cy="2496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Students and researchers evaluating detection methods; network/security analysts using offline flow exports; teams prototyping a monitoring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Problem framing: this is a detection-support prototype, not an autonomous mitigation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Why combine several model perspectives?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347472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INTERPRETABLE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3063240" cy="2724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Logistic Regression provides a supervised, per-flow baseline with an attack probability.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64008" cy="347472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TEMPORAL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063240" cy="2724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LSTM evaluates windows of 8 flows, allowing the model to use ordered sequence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29000" cy="347472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64008" cy="347472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NOVELTY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58568"/>
            <a:ext cx="3063240" cy="2724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An Autoencoder measures reconstruction error; high error can indicate records unlike its learned representation.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424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The combination supports comparison and investigation; it does not automatically guarantee higher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Project objectives and measurable implementation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Build a CSV-based interface for submitting network-flow records.</a:t>
            </a:r>
          </a:p>
          <a:p>
            <a:pPr>
              <a:spcAft>
                <a:spcPts val="13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Validate the required 68 numeric model features before inference.</a:t>
            </a:r>
          </a:p>
          <a:p>
            <a:pPr>
              <a:spcAft>
                <a:spcPts val="13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Apply the training-compatible scaler and preprocessing rules.</a:t>
            </a:r>
          </a:p>
          <a:p>
            <a:pPr>
              <a:spcAft>
                <a:spcPts val="13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Generate outputs using Logistic Regression, LSTM, and Autoencoder models when artifacts are available.</a:t>
            </a:r>
          </a:p>
          <a:p>
            <a:pPr>
              <a:spcAft>
                <a:spcPts val="1300"/>
              </a:spcAft>
              <a:defRPr sz="1800">
                <a:solidFill>
                  <a:srgbClr val="F0F7FC"/>
                </a:solidFill>
                <a:latin typeface="Aptos"/>
              </a:defRPr>
            </a:pPr>
            <a:r>
              <a:t>•  Present results in a way that supports inspection, comparison, and future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Existing approach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Positioning of the project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66360" cy="416052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4160520"/>
          </a:xfrm>
          <a:prstGeom prst="rect">
            <a:avLst/>
          </a:prstGeom>
          <a:solidFill>
            <a:srgbClr val="FF667D"/>
          </a:solidFill>
          <a:ln>
            <a:solidFill>
              <a:srgbClr val="FF6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667D"/>
                </a:solidFill>
                <a:latin typeface="Aptos"/>
              </a:rPr>
              <a:t>MANUAL / SINGLE-METHOD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4800600" cy="3410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• Manual inspection is slow for large flow tables
• Fixed rules can be brittle as traffic changes
• One model gives only one view of risk
• Results may be hard to reproduce across CSV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66360" cy="416052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64008" cy="416052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764792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PROPOSED SENTINELFLOW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212848"/>
            <a:ext cx="4800600" cy="34107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• Repeatable CSV validation and preprocessing
• Three model perspectives in one workflow
• Sequence-aware LSTM inference
• Web-based result presentation for uploaded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25312"/>
            <a:ext cx="10424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9BECF"/>
                </a:solidFill>
                <a:latin typeface="Aptos"/>
              </a:rPr>
              <a:t>These are conceptual comparisons; no benchmark superiority is claimed without measured experiments.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From uploaded CSV to model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417320" cy="13258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945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78608"/>
            <a:ext cx="12801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0F7FC"/>
                </a:solidFill>
                <a:latin typeface="Aptos"/>
              </a:rPr>
              <a:t>CSV upload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724912"/>
            <a:ext cx="502920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4600" y="2057400"/>
            <a:ext cx="1417320" cy="13258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4328" y="21945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2578608"/>
            <a:ext cx="12801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0F7FC"/>
                </a:solidFill>
                <a:latin typeface="Aptos"/>
              </a:rPr>
              <a:t>Validate
68 features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724912"/>
            <a:ext cx="502920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2057400"/>
            <a:ext cx="1417320" cy="13258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21945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578608"/>
            <a:ext cx="12801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0F7FC"/>
                </a:solidFill>
                <a:latin typeface="Aptos"/>
              </a:rPr>
              <a:t>Clean + scale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59" y="2724912"/>
            <a:ext cx="502921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2057400"/>
            <a:ext cx="1417320" cy="13258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21945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578608"/>
            <a:ext cx="12801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0F7FC"/>
                </a:solidFill>
                <a:latin typeface="Aptos"/>
              </a:rPr>
              <a:t>Three model
paths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724912"/>
            <a:ext cx="502920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75320" y="2057400"/>
            <a:ext cx="1417320" cy="13258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21945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578608"/>
            <a:ext cx="12801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0F7FC"/>
                </a:solidFill>
                <a:latin typeface="Aptos"/>
              </a:rPr>
              <a:t>Aggregate
summaries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92640" y="2724912"/>
            <a:ext cx="502920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195560" y="2057400"/>
            <a:ext cx="1417320" cy="13258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05288" y="2194560"/>
            <a:ext cx="1143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2578608"/>
            <a:ext cx="128016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0F7FC"/>
                </a:solidFill>
                <a:latin typeface="Aptos"/>
              </a:rPr>
              <a:t>Web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6908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32DAE7"/>
                </a:solidFill>
                <a:latin typeface="Aptos"/>
              </a:rPr>
              <a:t>Model paths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4805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480560"/>
            <a:ext cx="64008" cy="114300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464515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Logistic Regression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093208"/>
            <a:ext cx="306324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Per-flow probability and class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4805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0" y="4480560"/>
            <a:ext cx="64008" cy="114300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0288" y="464515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LSTM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5093208"/>
            <a:ext cx="306324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8-flow sequence probability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480560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4480560"/>
            <a:ext cx="64008" cy="114300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47888" y="464515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Autoencoder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5093208"/>
            <a:ext cx="306324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Reconstruction error vs threshold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The inference path implemented in the backend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64008" cy="114300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73351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1 •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48006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Load feature list, configuration, scaler and saved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64008" cy="114300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1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2 •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48006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Check that the CSV contains every required trained feature.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64008" cy="114300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090672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3 • 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38728"/>
            <a:ext cx="48006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Convert model columns to numeric, handle invalid values, and apply saved scaling.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64008" cy="114300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090672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B454"/>
                </a:solidFill>
                <a:latin typeface="Aptos"/>
              </a:rPr>
              <a:t>4 • 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38728"/>
            <a:ext cx="48006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Logistic Regression scores each flow; LSTM scores sequence windows.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64008" cy="114300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507992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5 • Detect 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956048"/>
            <a:ext cx="48006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Autoencoder reconstruction error is compared with a saved threshold.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4340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343400"/>
            <a:ext cx="64008" cy="114300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507992"/>
            <a:ext cx="48006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6 • Return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56048"/>
            <a:ext cx="48006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Return model availability, counts, probabilities/errors, and per-row samples.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Dataset and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CICDDoS2019 flow records and the required input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146304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0">
                <a:solidFill>
                  <a:srgbClr val="F0F7FC"/>
                </a:solidFill>
                <a:latin typeface="Aptos"/>
              </a:rPr>
              <a:t>CICDDoS2019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00200"/>
            <a:ext cx="64008" cy="146304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764792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MODEL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212848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0">
                <a:solidFill>
                  <a:srgbClr val="F0F7FC"/>
                </a:solidFill>
                <a:latin typeface="Aptos"/>
              </a:rPr>
              <a:t>68 numerical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0020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600200"/>
            <a:ext cx="64008" cy="146304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764792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SEQUENCE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12848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8 flows per LSTM window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600200"/>
            <a:ext cx="2514600" cy="146304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1600200"/>
            <a:ext cx="64008" cy="146304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5128" y="1764792"/>
            <a:ext cx="2148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B454"/>
                </a:solidFill>
                <a:latin typeface="Aptos"/>
              </a:rPr>
              <a:t>OPTIONAL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212848"/>
            <a:ext cx="21488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Timestamp, SourceCSV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10241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32DAE7"/>
                </a:solidFill>
                <a:latin typeface="Aptos"/>
              </a:rPr>
              <a:t>Preprocessing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10515600" cy="1508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0F7FC"/>
                </a:solidFill>
                <a:latin typeface="Aptos"/>
              </a:defRPr>
            </a:pPr>
            <a:r>
              <a:t>•  Column names are cleaned; required feature columns are selected in training order.</a:t>
            </a:r>
          </a:p>
          <a:p>
            <a:pPr>
              <a:spcAft>
                <a:spcPts val="500"/>
              </a:spcAft>
              <a:defRPr sz="1400">
                <a:solidFill>
                  <a:srgbClr val="F0F7FC"/>
                </a:solidFill>
                <a:latin typeface="Aptos"/>
              </a:defRPr>
            </a:pPr>
            <a:r>
              <a:t>•  Infinite and non-numeric values are handled before scaling.</a:t>
            </a:r>
          </a:p>
          <a:p>
            <a:pPr>
              <a:spcAft>
                <a:spcPts val="500"/>
              </a:spcAft>
              <a:defRPr sz="1400">
                <a:solidFill>
                  <a:srgbClr val="F0F7FC"/>
                </a:solidFill>
                <a:latin typeface="Aptos"/>
              </a:defRPr>
            </a:pPr>
            <a:r>
              <a:t>•  The saved StandardScaler is used so inference follows the training feature scale.</a:t>
            </a:r>
          </a:p>
          <a:p>
            <a:pPr>
              <a:spcAft>
                <a:spcPts val="500"/>
              </a:spcAft>
              <a:defRPr sz="1400">
                <a:solidFill>
                  <a:srgbClr val="F0F7FC"/>
                </a:solidFill>
                <a:latin typeface="Aptos"/>
              </a:defRPr>
            </a:pPr>
            <a:r>
              <a:t>•  Timestamp and SourceCSV can help order/group LSTM sequences when present.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4241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0">
                <a:solidFill>
                  <a:srgbClr val="A9BECF"/>
                </a:solidFill>
                <a:latin typeface="Aptos"/>
              </a:rPr>
              <a:t>The actual row count depends on the CSV uploaded for each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Three complementary techniques, each with a distinct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64008" cy="3977639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01 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154680" cy="3227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Type: supervised binary classifier
Unit: individual flow
Decision shown in service: probability ≥ 0.5 → DDoS; otherwise BENIGN
Role: baseline flow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64008" cy="3977639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764792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02  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154680" cy="3227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Type: recurrent neural network
Unit: sliding window of 8 flows
Decision shown in service: probability ≥ 0.5 → DDoS; otherwise BENIGN
Role: sequence-aware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00200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00200"/>
            <a:ext cx="64008" cy="3977639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764792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03  AUTOENCODER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212848"/>
            <a:ext cx="3154680" cy="3227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Type: neural reconstruction model
Unit: individual flow
Signal: mean squared reconstruction error
Threshold: approximately 0.126525
Role: flag unusual flow representations.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Model deep dive: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A supervised baseline that maps features to an attack probability.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120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700" b="1">
                <a:solidFill>
                  <a:srgbClr val="32DAE7"/>
                </a:solidFill>
                <a:latin typeface="Aptos"/>
              </a:rPr>
              <a:t>Core formula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04288"/>
            <a:ext cx="45720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300" b="1">
                <a:solidFill>
                  <a:srgbClr val="F0F7FC"/>
                </a:solidFill>
                <a:latin typeface="Aptos"/>
              </a:rPr>
              <a:t>p(y = 1 | x) = 1 / (1 + e⁻ᶻ)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>
                <a:solidFill>
                  <a:srgbClr val="A9BECF"/>
                </a:solidFill>
                <a:latin typeface="Aptos"/>
              </a:rPr>
              <a:t>z = wᵀx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4754880" cy="3566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Uses the 68 scaled feature values for each flow.</a:t>
            </a:r>
          </a:p>
          <a:p>
            <a:pPr>
              <a:spcAft>
                <a:spcPts val="10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Produces a probability for the positive class (DDoS).</a:t>
            </a:r>
          </a:p>
          <a:p>
            <a:pPr>
              <a:spcAft>
                <a:spcPts val="10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The backend applies a 0.5 decision threshold.</a:t>
            </a:r>
          </a:p>
          <a:p>
            <a:pPr>
              <a:spcAft>
                <a:spcPts val="10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A saved .joblib artifact and matching scaler are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Interpretation: probability is a model score, not a guarantee that a flow is malicious.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Model deep dive: 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Why ordered windows can add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1328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85416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136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4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35224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2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1768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965960"/>
            <a:ext cx="566928" cy="6858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51576" y="216712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F8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3464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8 consecutive flow feature vectors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874519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2148840"/>
            <a:ext cx="1554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>
                <a:solidFill>
                  <a:srgbClr val="4593FF"/>
                </a:solidFill>
                <a:latin typeface="Aptos"/>
              </a:rPr>
              <a:t>LSTM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0" y="2304288"/>
            <a:ext cx="502920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32520" y="2304288"/>
            <a:ext cx="457200" cy="0"/>
          </a:xfrm>
          <a:prstGeom prst="line">
            <a:avLst/>
          </a:prstGeom>
          <a:ln w="25400">
            <a:solidFill>
              <a:srgbClr val="32DA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89720" y="1874519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2148840"/>
            <a:ext cx="1737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42D29D"/>
                </a:solidFill>
                <a:latin typeface="Aptos"/>
              </a:rPr>
              <a:t>DDoS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94760"/>
            <a:ext cx="10332720" cy="1645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0F7FC"/>
                </a:solidFill>
                <a:latin typeface="Aptos"/>
              </a:defRPr>
            </a:pPr>
            <a:r>
              <a:t>•  Sliding windows are created within SourceCSV groups when that column exists.</a:t>
            </a:r>
          </a:p>
          <a:p>
            <a:pPr>
              <a:spcAft>
                <a:spcPts val="600"/>
              </a:spcAft>
              <a:defRPr sz="1500">
                <a:solidFill>
                  <a:srgbClr val="F0F7FC"/>
                </a:solidFill>
                <a:latin typeface="Aptos"/>
              </a:defRPr>
            </a:pPr>
            <a:r>
              <a:t>•  If Timestamp is available, rows are sorted by time; otherwise uploaded order is used.</a:t>
            </a:r>
          </a:p>
          <a:p>
            <a:pPr>
              <a:spcAft>
                <a:spcPts val="600"/>
              </a:spcAft>
              <a:defRPr sz="1500">
                <a:solidFill>
                  <a:srgbClr val="F0F7FC"/>
                </a:solidFill>
                <a:latin typeface="Aptos"/>
              </a:defRPr>
            </a:pPr>
            <a:r>
              <a:t>•  The prediction is associated with the final row of each 8-flow window.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Model deep dive: Autoencoder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Reconstruction error is used as an anomaly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64008" cy="182880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2880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288036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0">
                <a:solidFill>
                  <a:srgbClr val="F0F7FC"/>
                </a:solidFill>
                <a:latin typeface="Aptos"/>
              </a:rPr>
              <a:t>Scaled 68-feature flow vector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9164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691640"/>
            <a:ext cx="64008" cy="182880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856232"/>
            <a:ext cx="2880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RECONSTRUCT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304288"/>
            <a:ext cx="288036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Neural network learns a compact representation and reconstructs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3246120" cy="18288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64008" cy="182880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1856232"/>
            <a:ext cx="2880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COMPARE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304288"/>
            <a:ext cx="288036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Mean squared error vs saved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Project threshold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10241280" cy="59436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709160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F0F7FC"/>
                </a:solidFill>
                <a:latin typeface="Aptos"/>
              </a:rPr>
              <a:t>0.126525490859982  (configured threshold)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If reconstruction error exceeds the threshold, the service flags the flow as DDoS/anomalous. Threshold quality must be validated on held-out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System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The frontend and backend responsibilities.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148840" cy="59436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17320"/>
            <a:ext cx="8046720" cy="5943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01568" y="1527048"/>
            <a:ext cx="7589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CSV selection, upload action, validation messages, results and graphs.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2148840" cy="59436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Flask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286000"/>
            <a:ext cx="8046720" cy="5943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395728"/>
            <a:ext cx="7589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/api/health, /api/metrics, /api/config, /api/validate, /api/predict.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54680"/>
            <a:ext cx="2148840" cy="59436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Model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154680"/>
            <a:ext cx="8046720" cy="5943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3264408"/>
            <a:ext cx="7589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Artifact loading, input validation, preprocessing and inference.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59"/>
            <a:ext cx="2148840" cy="59436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Saved artifacts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023359"/>
            <a:ext cx="8046720" cy="5943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01568" y="4133087"/>
            <a:ext cx="7589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Feature list, configuration, scaler, Logistic Regression, LSTM and Autoencoder.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92040"/>
            <a:ext cx="2148840" cy="59436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029200"/>
            <a:ext cx="187451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Results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892040"/>
            <a:ext cx="8046720" cy="5943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01568" y="5001768"/>
            <a:ext cx="7589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Counts, attack rates, probabilities/errors, sequence counts and row-level examples.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Implementation and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Suggested walkthrough for the faculty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658368" cy="566928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35608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F0F7FC"/>
                </a:solidFill>
                <a:latin typeface="Aptos"/>
              </a:rPr>
              <a:t>Open the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35608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Show the landing page and describe the CSV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67712"/>
            <a:ext cx="658368" cy="566928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F0F7FC"/>
                </a:solidFill>
                <a:latin typeface="Aptos"/>
              </a:rPr>
              <a:t>Choose a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286000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Use a file that contains the 68 required numeric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18104"/>
            <a:ext cx="658368" cy="566928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55264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136392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F0F7FC"/>
                </a:solidFill>
                <a:latin typeface="Aptos"/>
              </a:rPr>
              <a:t>Run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136392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Explain validation, preprocessing, and the three model paths.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658368" cy="566928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105656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986783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F0F7FC"/>
                </a:solidFill>
                <a:latin typeface="Aptos"/>
              </a:rPr>
              <a:t>Read the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986783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Compare flow-level predictions, LSTM sequence results, and anomaly signals.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18888"/>
            <a:ext cx="658368" cy="566928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956048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32DAE7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837176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1">
                <a:solidFill>
                  <a:srgbClr val="F0F7FC"/>
                </a:solidFill>
                <a:latin typeface="Aptos"/>
              </a:rPr>
              <a:t>Test robustness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837176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Upload another compatible CSV and observe how counts/graphs update.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97880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FFB454"/>
                </a:solidFill>
                <a:latin typeface="Aptos"/>
              </a:rPr>
              <a:t>Use real screenshots from the running website on this slide during final rehearsal.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Results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Populate the metrics below from the final held-out evaluation—not from a sample upload.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00200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39" y="1737360"/>
            <a:ext cx="141731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00200"/>
            <a:ext cx="1508760" cy="5029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737360"/>
            <a:ext cx="141731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600200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1325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00200"/>
            <a:ext cx="1417320" cy="5029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1737360"/>
            <a:ext cx="13258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F1-score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60020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1737360"/>
            <a:ext cx="1737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Evaluation unit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194560"/>
            <a:ext cx="237744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" y="2377440"/>
            <a:ext cx="23042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Logistic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194560"/>
            <a:ext cx="150876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2377440"/>
            <a:ext cx="1435607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194560"/>
            <a:ext cx="150876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82896" y="2377440"/>
            <a:ext cx="1435607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194560"/>
            <a:ext cx="141732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83096" y="2377440"/>
            <a:ext cx="13441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2194560"/>
            <a:ext cx="141732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91855" y="2377440"/>
            <a:ext cx="13441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2194560"/>
            <a:ext cx="182880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0615" y="2377440"/>
            <a:ext cx="175564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907791"/>
            <a:ext cx="2377440" cy="603504"/>
          </a:xfrm>
          <a:prstGeom prst="rect">
            <a:avLst/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" y="3090672"/>
            <a:ext cx="23042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LSTM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907791"/>
            <a:ext cx="1508760" cy="603504"/>
          </a:xfrm>
          <a:prstGeom prst="rect">
            <a:avLst/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82696" y="3090672"/>
            <a:ext cx="1435607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07791"/>
            <a:ext cx="1508760" cy="603504"/>
          </a:xfrm>
          <a:prstGeom prst="rect">
            <a:avLst/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82896" y="3090672"/>
            <a:ext cx="1435607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2907791"/>
            <a:ext cx="1417320" cy="603504"/>
          </a:xfrm>
          <a:prstGeom prst="rect">
            <a:avLst/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83096" y="3090672"/>
            <a:ext cx="13441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2907791"/>
            <a:ext cx="1417320" cy="603504"/>
          </a:xfrm>
          <a:prstGeom prst="rect">
            <a:avLst/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91855" y="3090672"/>
            <a:ext cx="13441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[enter]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64040" y="2907791"/>
            <a:ext cx="1828800" cy="603504"/>
          </a:xfrm>
          <a:prstGeom prst="rect">
            <a:avLst/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0615" y="3090672"/>
            <a:ext cx="175564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8-flow windows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621024"/>
            <a:ext cx="237744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3816" y="3803904"/>
            <a:ext cx="230428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32DAE7"/>
                </a:solidFill>
                <a:latin typeface="Aptos"/>
              </a:rPr>
              <a:t>Autoencoder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3621024"/>
            <a:ext cx="150876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82696" y="3803904"/>
            <a:ext cx="1435607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N/A*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46320" y="3621024"/>
            <a:ext cx="150876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82896" y="3803904"/>
            <a:ext cx="1435607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N/A*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3621024"/>
            <a:ext cx="141732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83096" y="3803904"/>
            <a:ext cx="13441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N/A*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3621024"/>
            <a:ext cx="141732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91855" y="3803904"/>
            <a:ext cx="134416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N/A*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64040" y="3621024"/>
            <a:ext cx="1828800" cy="603504"/>
          </a:xfrm>
          <a:prstGeom prst="rect">
            <a:avLst/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00615" y="3803904"/>
            <a:ext cx="175564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F0F7FC"/>
                </a:solidFill>
                <a:latin typeface="Aptos"/>
              </a:rPr>
              <a:t>Anomaly threshold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4572000"/>
            <a:ext cx="10424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*For the Autoencoder, report classification metrics only if ground-truth labels and a defined evaluation protocol are used.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5074920"/>
            <a:ext cx="5029200" cy="77724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2960" y="5074920"/>
            <a:ext cx="64008" cy="77724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4128" y="523951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RECOMMENDED EVALUATION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" y="5687568"/>
            <a:ext cx="4663440" cy="27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Use a held-out labeled test set; report class balance and confusion matrices.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074920"/>
            <a:ext cx="5029200" cy="77724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17920" y="5074920"/>
            <a:ext cx="64008" cy="77724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19088" y="5239512"/>
            <a:ext cx="4663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B454"/>
                </a:solidFill>
                <a:latin typeface="Aptos"/>
              </a:rPr>
              <a:t>DO NOT MIX METRICS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5687568"/>
            <a:ext cx="4663440" cy="27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Live upload attack rates are predictions, not accuracy/precision/recall.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C15E99C-431C-E9DD-76E0-AD5EC3661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9" y="4251958"/>
            <a:ext cx="3256154" cy="2606041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AA101B28-BBBA-8D8A-665B-561D009F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7" y="4251958"/>
            <a:ext cx="3256154" cy="258823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5ED4090-FD4C-3387-27C3-5AA2D1565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232" y="4224527"/>
            <a:ext cx="3256154" cy="262900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9356BE5C-4DC7-04E1-B52A-878E76BAD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224" y="4210335"/>
            <a:ext cx="2374776" cy="26476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DF9BB-EA74-FAF4-0AC0-34A6C0F8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3865944" cy="3345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AC2F5-6B2B-7830-960C-52824903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945" y="0"/>
            <a:ext cx="4460112" cy="3345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4B78A-833C-BC18-D6FB-1191BF2A8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057" y="1"/>
            <a:ext cx="3865942" cy="3345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33F931-D82E-0AA1-A32D-9CDDA0501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3345083"/>
            <a:ext cx="3865942" cy="3512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FB2B84-9AB6-5BE7-3454-99F40023B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945" y="3345084"/>
            <a:ext cx="4460112" cy="35129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86309C-9292-720A-B1B4-388785B8DA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302" y="3345082"/>
            <a:ext cx="3771698" cy="351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42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61AC6C-B0D2-1A43-4F73-3B925039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96000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B4FAA3-5E12-EE24-35BD-B35FA65C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"/>
            <a:ext cx="6096000" cy="3428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F4841-97C5-D0AC-131C-79FE1F677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999"/>
            <a:ext cx="12192000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81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Model comparison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Complementary strengths and trade-offs.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423160" cy="804672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2057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3840480" cy="804672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746504"/>
            <a:ext cx="3474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Fast baseline; per-flow scores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00200"/>
            <a:ext cx="4069080" cy="804672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746504"/>
            <a:ext cx="3703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No sequence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2423160" cy="804672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2057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LSTM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743200"/>
            <a:ext cx="3840480" cy="804672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889504"/>
            <a:ext cx="3474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Uses ordered 8-flow windows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743200"/>
            <a:ext cx="4069080" cy="804672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2889504"/>
            <a:ext cx="3703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Needs sufficient ordered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2423160" cy="804672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2057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Autoencoder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886200"/>
            <a:ext cx="3840480" cy="804672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0440" y="4032504"/>
            <a:ext cx="3474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F0F7FC"/>
                </a:solidFill>
                <a:latin typeface="Aptos"/>
              </a:rPr>
              <a:t>Flags high reconstruction 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886200"/>
            <a:ext cx="4069080" cy="804672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4032504"/>
            <a:ext cx="3703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0">
                <a:solidFill>
                  <a:srgbClr val="A9BECF"/>
                </a:solidFill>
                <a:latin typeface="Aptos"/>
              </a:rPr>
              <a:t>Threshold must be validated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298448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4593FF"/>
                </a:solidFill>
                <a:latin typeface="Aptos"/>
              </a:rPr>
              <a:t>STRENGTH / 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298448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>
                <a:solidFill>
                  <a:srgbClr val="FFB454"/>
                </a:solidFill>
                <a:latin typeface="Aptos"/>
              </a:rPr>
              <a:t>TRADE-OFF / CAVEAT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F0F7FC"/>
                </a:solidFill>
                <a:latin typeface="Aptos"/>
              </a:rPr>
              <a:t>Discussion: compare measured test-set results alongside latency, false positives, false negatives, and the number of flows/sequences evaluated.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Training convergence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What should be reported for the neural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320040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30632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Plot training and validation loss by epoch. Look for stable decline and a small generalization gap. A rising validation loss can indicate overfitting.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64008" cy="320040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76479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AUTOENCODER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12848"/>
            <a:ext cx="30632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Plot training and validation reconstruction loss by epoch. Stable convergence should be followed by threshold selection using validation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64008" cy="320040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12848"/>
            <a:ext cx="30632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For this model, discuss solver convergence/iteration status rather than neural-network epoch curves.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2412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1">
                <a:solidFill>
                  <a:srgbClr val="FFB454"/>
                </a:solidFill>
                <a:latin typeface="Aptos"/>
              </a:rPr>
              <a:t>Important: training-history logs were not supplied with this request, so no convergence curve or claim of convergence is fabricated in this deck.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Limitations and responsible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Current scope and known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6766560" cy="4480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The API expects the same 68 trained numerical features; arbitrary CSV schemas are not supported.</a:t>
            </a:r>
          </a:p>
          <a:p>
            <a:pPr>
              <a:spcAft>
                <a:spcPts val="9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LSTM results depend on row ordering and enough records to form sequence windows.</a:t>
            </a:r>
          </a:p>
          <a:p>
            <a:pPr>
              <a:spcAft>
                <a:spcPts val="9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The saved anomaly threshold may not generalize to every traffic environment.</a:t>
            </a:r>
          </a:p>
          <a:p>
            <a:pPr>
              <a:spcAft>
                <a:spcPts val="9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Prediction outputs are not proof of malicious intent and should be validated before operational use.</a:t>
            </a:r>
          </a:p>
          <a:p>
            <a:pPr>
              <a:spcAft>
                <a:spcPts val="900"/>
              </a:spcAft>
              <a:defRPr sz="1600">
                <a:solidFill>
                  <a:srgbClr val="F0F7FC"/>
                </a:solidFill>
                <a:latin typeface="Aptos"/>
              </a:defRPr>
            </a:pPr>
            <a:r>
              <a:t>•  The Flask debug server is intended for development, not production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91640"/>
            <a:ext cx="3291840" cy="333756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79" y="1691640"/>
            <a:ext cx="64008" cy="3337560"/>
          </a:xfrm>
          <a:prstGeom prst="rect">
            <a:avLst/>
          </a:prstGeom>
          <a:solidFill>
            <a:srgbClr val="FFB454"/>
          </a:solidFill>
          <a:ln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6448" y="185623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FFB454"/>
                </a:solidFill>
                <a:latin typeface="Aptos"/>
              </a:rPr>
              <a:t>SAFE DEPLOYMENT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304288"/>
            <a:ext cx="2926080" cy="2587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0">
                <a:solidFill>
                  <a:srgbClr val="F0F7FC"/>
                </a:solidFill>
                <a:latin typeface="Aptos"/>
              </a:rPr>
              <a:t>• Authentication and access control
• Upload size/rate limits
• Production WSGI server
• Monitoring and audit logs
• Retraining and drift checks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Practical next steps to strengthen the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4008" cy="3383280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32DAE7"/>
                </a:solidFill>
                <a:latin typeface="Aptos"/>
              </a:rPr>
              <a:t>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306324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Add a reproducible test protocol, confusion matrices, per-class metrics, ROC/PR curves and latency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64008" cy="3383280"/>
          </a:xfrm>
          <a:prstGeom prst="rect">
            <a:avLst/>
          </a:prstGeom>
          <a:solidFill>
            <a:srgbClr val="4593FF"/>
          </a:solidFill>
          <a:ln>
            <a:solidFill>
              <a:srgbClr val="45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593FF"/>
                </a:solidFill>
                <a:latin typeface="Aptos"/>
              </a:rPr>
              <a:t>DATA +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06324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Test on diverse traffic sources, calibrate thresholds, examine class imbalance, and monitor model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429000" cy="3383280"/>
          </a:xfrm>
          <a:prstGeom prst="roundRect">
            <a:avLst>
              <a:gd name="adj" fmla="val 12000"/>
            </a:avLst>
          </a:prstGeom>
          <a:solidFill>
            <a:srgbClr val="0F1F31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64008" cy="3383280"/>
          </a:xfrm>
          <a:prstGeom prst="rect">
            <a:avLst/>
          </a:prstGeom>
          <a:solidFill>
            <a:srgbClr val="42D29D"/>
          </a:solidFill>
          <a:ln>
            <a:solidFill>
              <a:srgbClr val="42D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600" b="1">
                <a:solidFill>
                  <a:srgbClr val="42D29D"/>
                </a:solidFill>
                <a:latin typeface="Aptos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58568"/>
            <a:ext cx="306324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500" b="0">
                <a:solidFill>
                  <a:srgbClr val="F0F7FC"/>
                </a:solidFill>
                <a:latin typeface="Aptos"/>
              </a:rPr>
              <a:t>Add authentication, safer upload handling, production serving, logging, and optional streaming integration.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91440" cy="384048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1148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800" b="1">
                <a:solidFill>
                  <a:srgbClr val="F0F7FC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78408"/>
            <a:ext cx="107899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A9BECF"/>
                </a:solidFill>
                <a:latin typeface="Aptos"/>
              </a:rPr>
              <a:t>A clear, modular prototype for multi-perspective DDoS screening.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7315200" cy="3474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7FC"/>
                </a:solidFill>
                <a:latin typeface="Aptos"/>
              </a:defRPr>
            </a:pPr>
            <a:r>
              <a:t>•  The project connects CSV ingestion, feature validation, preprocessing, model inference, and a web results view.</a:t>
            </a:r>
          </a:p>
          <a:p>
            <a:pPr>
              <a:spcAft>
                <a:spcPts val="1200"/>
              </a:spcAft>
              <a:defRPr sz="1700">
                <a:solidFill>
                  <a:srgbClr val="F0F7FC"/>
                </a:solidFill>
                <a:latin typeface="Aptos"/>
              </a:defRPr>
            </a:pPr>
            <a:r>
              <a:t>•  Logistic Regression, LSTM, and Autoencoder provide different signals rather than one interchangeable metric.</a:t>
            </a:r>
          </a:p>
          <a:p>
            <a:pPr>
              <a:spcAft>
                <a:spcPts val="1200"/>
              </a:spcAft>
              <a:defRPr sz="1700">
                <a:solidFill>
                  <a:srgbClr val="F0F7FC"/>
                </a:solidFill>
                <a:latin typeface="Aptos"/>
              </a:defRPr>
            </a:pPr>
            <a:r>
              <a:t>•  Reliable claims about effectiveness require final held-out metrics and a documented evaluation protocol.</a:t>
            </a:r>
          </a:p>
          <a:p>
            <a:pPr>
              <a:spcAft>
                <a:spcPts val="1200"/>
              </a:spcAft>
              <a:defRPr sz="1700">
                <a:solidFill>
                  <a:srgbClr val="F0F7FC"/>
                </a:solidFill>
                <a:latin typeface="Aptos"/>
              </a:defRPr>
            </a:pPr>
            <a:r>
              <a:t>•  The system provides a foundation for further validation, usability improvements, and safer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828800"/>
            <a:ext cx="2606040" cy="2240280"/>
          </a:xfrm>
          <a:prstGeom prst="roundRect">
            <a:avLst>
              <a:gd name="adj" fmla="val 12000"/>
            </a:avLst>
          </a:prstGeom>
          <a:solidFill>
            <a:srgbClr val="152B3F"/>
          </a:solidFill>
          <a:ln>
            <a:solidFill>
              <a:srgbClr val="15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2148840"/>
            <a:ext cx="2057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3200" b="1">
                <a:solidFill>
                  <a:srgbClr val="32DAE7"/>
                </a:solidFill>
                <a:latin typeface="Aptos"/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651760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0">
                <a:solidFill>
                  <a:srgbClr val="F0F7FC"/>
                </a:solidFill>
                <a:latin typeface="Aptos"/>
              </a:rPr>
              <a:t>required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46120"/>
            <a:ext cx="2057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>
                <a:solidFill>
                  <a:srgbClr val="42D29D"/>
                </a:solidFill>
                <a:latin typeface="Apto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657600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>
                <a:solidFill>
                  <a:srgbClr val="F0F7FC"/>
                </a:solidFill>
                <a:latin typeface="Aptos"/>
              </a:rPr>
              <a:t>flows per LSTM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800" b="1">
                <a:solidFill>
                  <a:srgbClr val="32DAE7"/>
                </a:solidFill>
                <a:latin typeface="Aptos"/>
              </a:rPr>
              <a:t>Thank you • Questions &amp; discussion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0584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400" b="1">
                <a:solidFill>
                  <a:srgbClr val="32DAE7"/>
                </a:solidFill>
                <a:latin typeface="Aptos"/>
              </a:rPr>
              <a:t>SENTINELFLOW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05840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4200" b="1">
                <a:solidFill>
                  <a:srgbClr val="F0F7FC"/>
                </a:solidFill>
                <a:latin typeface="Apto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7772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2000" b="0">
                <a:solidFill>
                  <a:srgbClr val="A9BECF"/>
                </a:solidFill>
                <a:latin typeface="Aptos"/>
              </a:rPr>
              <a:t>DDoS Attack Detection Using LSTM &amp; Autoencoder-Based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06240"/>
            <a:ext cx="2103120" cy="54864"/>
          </a:xfrm>
          <a:prstGeom prst="rect">
            <a:avLst/>
          </a:prstGeom>
          <a:solidFill>
            <a:srgbClr val="32DAE7"/>
          </a:solidFill>
          <a:ln>
            <a:solidFill>
              <a:srgbClr val="3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8755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200" b="0">
                <a:solidFill>
                  <a:srgbClr val="F0F7FC"/>
                </a:solidFill>
                <a:latin typeface="Aptos"/>
              </a:rPr>
              <a:t>V. Rohith — 2520090029  •  B. Dharshan — 2520090088  •  [Guide / Supervisor]  •  [Department / College]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800" b="1">
                <a:solidFill>
                  <a:srgbClr val="A9BECF"/>
                </a:solidFill>
                <a:latin typeface="Aptos"/>
              </a:rPr>
              <a:t>SENTINELFLOW • DDoS ATTACK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>
                <a:solidFill>
                  <a:srgbClr val="32DAE7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2192</Words>
  <Application>Microsoft Office PowerPoint</Application>
  <PresentationFormat>Widescreen</PresentationFormat>
  <Paragraphs>319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SentinelFlow — DDoS Attack Detection Using LSTM and Autoencoder</dc:title>
  <dc:subject>Final project presentation</dc:subject>
  <dc:creator>Project team</dc:creator>
  <cp:keywords>DDoS, CICDDoS2019, Logistic Regression, LSTM, Autoencoder, Machine Learning</cp:keywords>
  <dc:description>generated using python-pptx</dc:description>
  <cp:lastModifiedBy>DHARSH.. ....</cp:lastModifiedBy>
  <cp:revision>2</cp:revision>
  <dcterms:created xsi:type="dcterms:W3CDTF">2013-01-27T09:14:16Z</dcterms:created>
  <dcterms:modified xsi:type="dcterms:W3CDTF">2026-10-14T06:08:00Z</dcterms:modified>
  <cp:category/>
</cp:coreProperties>
</file>